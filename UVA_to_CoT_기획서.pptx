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gradFill>
            <a:gsLst>
              <a:gs pos="0">
                <a:srgbClr val="E07000"/>
              </a:gs>
              <a:gs pos="100000">
                <a:srgbClr val="D4B2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7B3200"/>
                </a:solidFill>
                <a:latin typeface="맑은 고딕"/>
              </a:rPr>
              <a:t>Topic:  편하신대로 작성하시면되요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7B3200"/>
                </a:solidFill>
                <a:latin typeface="맑은 고딕"/>
              </a:rPr>
              <a:t>UVA to CoT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7B3200"/>
                </a:solidFill>
                <a:latin typeface="맑은 고딕"/>
              </a:rPr>
              <a:t>Presented by: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492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8B3A00"/>
                </a:solidFill>
                <a:latin typeface="Calibri"/>
              </a:rPr>
              <a:t>Dongguk Univ.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>
            <a:gsLst>
              <a:gs pos="0">
                <a:srgbClr val="E07000"/>
              </a:gs>
              <a:gs pos="100000">
                <a:srgbClr val="D4B2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ctr"/>
            <a:r>
              <a:rPr b="1" sz="2200">
                <a:solidFill>
                  <a:srgbClr val="FFFFFF"/>
                </a:solidFill>
                <a:latin typeface="맑은 고딕"/>
              </a:rPr>
              <a:t>0. 기존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64008"/>
            <a:ext cx="411480" cy="5943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b="1" sz="20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492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8B3A00"/>
                </a:solidFill>
                <a:latin typeface="Calibri"/>
              </a:rPr>
              <a:t>Dongguk Univ.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Backbone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UVA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CoT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274320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맑은 고딕"/>
              </a:rPr>
              <a:t>[ UVA architecture 이미지 ]                    [ CoT architecture 이미지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994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A1A1A"/>
                </a:solidFill>
                <a:latin typeface="맑은 고딕"/>
              </a:rPr>
              <a:t>UVA architecture                                   CoT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9834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간단 소개</a:t>
            </a:r>
          </a:p>
          <a:p>
            <a:pPr marL="347472">
              <a:spcBef>
                <a:spcPts val="200"/>
              </a:spcBef>
            </a:pPr>
            <a:r>
              <a:rPr sz="1100">
                <a:solidFill>
                  <a:srgbClr val="1A1A1A"/>
                </a:solidFill>
                <a:latin typeface="맑은 고딕"/>
              </a:rPr>
              <a:t>–  발표자(팀)와 주제를 1-2 문장으로 소개. 위 BaseModel 섹션 아래 이미지 영역에 두 모델의 architecture 그림을 첨부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>
            <a:gsLst>
              <a:gs pos="0">
                <a:srgbClr val="E07000"/>
              </a:gs>
              <a:gs pos="100000">
                <a:srgbClr val="D4B2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ctr"/>
            <a:r>
              <a:rPr b="1" sz="2200">
                <a:solidFill>
                  <a:srgbClr val="FFFFFF"/>
                </a:solidFill>
                <a:latin typeface="맑은 고딕"/>
              </a:rPr>
              <a:t>1. 연구 배경 및 동기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64008"/>
            <a:ext cx="411480" cy="5943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b="1" sz="20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492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8B3A00"/>
                </a:solidFill>
                <a:latin typeface="Calibri"/>
              </a:rPr>
              <a:t>Dongguk Univ.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8503920" cy="569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UVA 모델의 한계점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블랙박스 문제 : long-Horizon 태스크에서 명시적 하위목표, 대안 액션 비교에 대한 설명이 모자람. 또한 추론 시점에 추론 단계를 파악하기가 어렵다.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UVA의 기여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비디오와 액션을 통합 잠재공간에서 학습하여 시각-행동 동역학을 효과적으로 결합.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디코더 분리로 정책 추론 시 비디오 생성을 생략해 속도 확보.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마스킹 기반 학습으로 policy/forward/inverse dynamics 등 다방면 학습이 가능함. 이는 robustness 향상과 과적합을 방지함.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CoT(Chain-of-Thought) 추론의 가능성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CoT는 정형화 된 추론을 강제하며, 중간 추론 결과를 명시적인 토큰으로 생성함으로써 복잡한 문제의 장기 의존성을 다루는 데 유리하다.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로봇 제어에서는 고수준 목표 → 중간 목표 → 저수준 행동의 계층화를 통해 오류 누적을 줄이고 재계획을 쉽게 만든다.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추론 과정을 명시화하면 디버깅/해석성도 개선된다.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두 방법을 결합해야 하는 이유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CoT는 계획·비교·설명을, UVA는 학습된 동역학/정책을 담당한다.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UVA를 동결(frozen)하여 훈련 비용을 피하면서, 추론시에만 언어 모델 오케스트레이션을 바꿔 성능·해석가능성을 분리 평가할 수 있다.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동시에 CoT를 통하여 Long-Horizon 태스크 성능 향상을 기대해 볼 수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>
            <a:gsLst>
              <a:gs pos="0">
                <a:srgbClr val="E07000"/>
              </a:gs>
              <a:gs pos="100000">
                <a:srgbClr val="D4B2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ctr"/>
            <a:r>
              <a:rPr b="1" sz="2200">
                <a:solidFill>
                  <a:srgbClr val="FFFFFF"/>
                </a:solidFill>
                <a:latin typeface="맑은 고딕"/>
              </a:rPr>
              <a:t>2. 문제 정의 및 연구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64008"/>
            <a:ext cx="411480" cy="5943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b="1" sz="20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492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8B3A00"/>
                </a:solidFill>
                <a:latin typeface="Calibri"/>
              </a:rPr>
              <a:t>Dongguk Univ.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8503920" cy="569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해결하고자 하는 문제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고정된 UVA 정책·순동역학을 유지한 채, 외부 LLM의 구조화된 CoT가 행동 선택·롤아웃 평가를 개선할 수 있는지, 그리고 순동역 예측과의 일관성까지 검증할 수 있는가.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연구 목표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추론 파이프라인(지시문 → CoT 단계 → UVA 액션/순동역 예측)을 정의하고, 벤치마크에서 성공률·장기 완료·예측 일관성 지표로 UVA 단독 대비 이득을 정량화한다.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연구 질문 (Research Questions)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RQ1: 동일 UVA 정책에서 CoT 계획 유무가 성공률·장기 과제 완료에 성능향상을 미치는가?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RQ2: CoT가 순동역학으로 생성한 미래 관측과 더 잘 맞는(일관된) 궤적·행동을 고르는가?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연구의 범위(Scope)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시뮬레이션 벤치마크(예: LIBERO 소수 태스크 또는 PushT 계열), 이미 학습이 완료된 UVA만을 사용, 추론 시 CoT 오케스트레이션 및 프롬프트 변형.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실제 로봇 배포는 하지 않고 시뮬레이션만 사용.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>
            <a:gsLst>
              <a:gs pos="0">
                <a:srgbClr val="E07000"/>
              </a:gs>
              <a:gs pos="100000">
                <a:srgbClr val="D4B2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ctr"/>
            <a:r>
              <a:rPr b="1" sz="2200">
                <a:solidFill>
                  <a:srgbClr val="FFFFFF"/>
                </a:solidFill>
                <a:latin typeface="맑은 고딕"/>
              </a:rPr>
              <a:t>3. 관련 연구 (Related 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64008"/>
            <a:ext cx="411480" cy="5943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b="1" sz="20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492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8B3A00"/>
                </a:solidFill>
                <a:latin typeface="Calibri"/>
              </a:rPr>
              <a:t>Dongguk Univ.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8503920" cy="569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UVA 핵심 요약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joint video-action latent + decoupled diffusion head를 통해 성능과 속도 균형 달성.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masking 기반 학습으로 정책/비디오/동역학 모델링을 통합.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PushT/Libero 등에서 strong multi-task 성능 보고.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CoT 논문 핵심 요약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CoT는 중간 reasoning step을 통해 복잡한 문제를 단계적으로 해결.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최근 embodied robotics에서도 고수준 계획과 저수준 제어 연결을 위한 추론 구조의 중요성이 증가.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핵심은 "중간 상태/목표를 명시적으로 모델링"하는 것.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기존 연구의 한계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UVA: 강한 표현력에도 불구하고 명시적 추론 체인이 약해 장기 계획에서 한계 가능.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일반 CoT 연구: 텍스트/추론 벤치 중심이 많아, 연속 제어 행동 생성으로의 직접 연결이 쉽지 않음.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따라서 "비디오-액션 생성 모델 내부로 CoT를 실용적으로 주입하는 방식"이 아직 충분히 정립되지 않음.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차별점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본 연구는 UVA를 직접 확장해 실행 가능한 CoT 통합 정책을 제시.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단순 성능 비교를 넘어 "중간 추론 품질(reasoning accuracy)"까지 정량화.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단일 태스크 성능 보존 + 장기 복합 태스크 개선의 균형을 목표로 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>
            <a:gsLst>
              <a:gs pos="0">
                <a:srgbClr val="E07000"/>
              </a:gs>
              <a:gs pos="100000">
                <a:srgbClr val="D4B2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ctr"/>
            <a:r>
              <a:rPr b="1" sz="2200">
                <a:solidFill>
                  <a:srgbClr val="FFFFFF"/>
                </a:solidFill>
                <a:latin typeface="맑은 고딕"/>
              </a:rPr>
              <a:t>4. 제안 방법 (UVA + CoT 통합)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64008"/>
            <a:ext cx="411480" cy="5943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b="1" sz="20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492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8B3A00"/>
                </a:solidFill>
                <a:latin typeface="Calibri"/>
              </a:rPr>
              <a:t>Dongguk Univ.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전체 아키텍처(Overview)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8412480" cy="274320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맑은 고딕"/>
              </a:rPr>
              <a:t>[ Agent Architecture: Input-Reasoning-Engine 다이어그램 이미지 삽입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51960"/>
            <a:ext cx="8503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흐름: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1. LLM이 CoT로 "지금 단계의 부분목표"만 출력 (예: "서랍 손잡이에 그리퍼 정렬").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2. 그 문자열을 language_goal로 바꿔 UVA가 짧은 구간 액션 청크를 예측·실행.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3. 몇 스텝 후 관측이 바뀌면 다시 LLM이 다음 부분목표를 갱신.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CLIP을 통해 CoT의 각 부분 목표를 벡터화시켜서 1차원으로 펼친 비디오 토큰 앞에 concat함.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>
            <a:gsLst>
              <a:gs pos="0">
                <a:srgbClr val="E07000"/>
              </a:gs>
              <a:gs pos="100000">
                <a:srgbClr val="D4B2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ctr"/>
            <a:r>
              <a:rPr b="1" sz="2200">
                <a:solidFill>
                  <a:srgbClr val="FFFFFF"/>
                </a:solidFill>
                <a:latin typeface="맑은 고딕"/>
              </a:rPr>
              <a:t>4. 제안 방법 (UVA + CoT 통합)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64008"/>
            <a:ext cx="411480" cy="5943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b="1" sz="200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492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8B3A00"/>
                </a:solidFill>
                <a:latin typeface="Calibri"/>
              </a:rPr>
              <a:t>Dongguk Univ.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8503920" cy="569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핵심 아이디어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기존에 Long-Horizon 태스크의 instruction 텍스트를 CLIP에 넣어 벡터로 바꾼 후 이미지 토큰에 접속(concat)하는 알고리즘이 있다. 이는 언뜻 이미지만 봐서는 태스크의 목적을 알 수 없던 Long-Horizon 태스크를 텍스트 instruction을 CLIP을 통해 따로 처리하여 로봇이 태스크 목표를 쫓을 수 있었다. 이 코드를 재활용하여 생성된 CoT의 각 단계를 역시 CLIP에 넣고 부분태스크의 경계에 해당하는 이미지에 접속(concat)하는 방식으로 CoT를 구현하는 것이 저의 아이디어입니다.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'현재 관측에서 무엇이 중요한가' → '다음에 만족해야 할 조건' → '후보 행동/롤아웃 비교' → UVA로 실행·예측.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입력 및 출력 정의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Input: 이미지, 언어 instruction, 짧은 history(선택).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Output: CoT 중간 문자열(선택적으로 로그), 최종 액션 또는 UVA 순동역에 의한 미래 프레임/미래 액션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Loss 및 학습 전략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본 연구 단계에서는 UVA 추가 학습 없음. 손실 최적화는 UVA 체크포인트에 적용하지 않는다. 선택 시 LLM만 소량 in-context 예시 또는 경량 파인튜닝으로 프롬프트 적응 범위를 명시한다.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>
            <a:gsLst>
              <a:gs pos="0">
                <a:srgbClr val="E07000"/>
              </a:gs>
              <a:gs pos="100000">
                <a:srgbClr val="D4B2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ctr"/>
            <a:r>
              <a:rPr b="1" sz="2200">
                <a:solidFill>
                  <a:srgbClr val="FFFFFF"/>
                </a:solidFill>
                <a:latin typeface="맑은 고딕"/>
              </a:rPr>
              <a:t>5. 실험 설계 (Experiment Design)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64008"/>
            <a:ext cx="411480" cy="5943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b="1" sz="200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492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8B3A00"/>
                </a:solidFill>
                <a:latin typeface="Calibri"/>
              </a:rPr>
              <a:t>Dongguk Univ.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8503920" cy="569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데이터셋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LIBERO(Long-Horizon Benchmark) 또는 PushT 계열 시뮬레이션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선정 이유: Long-Horizon 태스크·성공 여부가 명확하고, 시각 관측 기반 정책과 CoT 설명을 연결하기 용이함. 또한 Libero 10과 PushT계열은 실물 로봇 없이 시뮬레이션으로 돌릴 수 있는 데이터 셋임.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Baseline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UVA(원본)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UVA + Zero-Shot 프롬프트</a:t>
            </a:r>
          </a:p>
          <a:p>
            <a:pPr>
              <a:spcBef>
                <a:spcPts val="5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평가 지표(Metrics)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Success rate(및 필요 시 completion rate).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선택 지표: CoT가 고른 액션이 UVA 예측과 얼마나 일관적인지 (예: 예측 프레임·상태와의 정합 스코어)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>
            <a:gsLst>
              <a:gs pos="0">
                <a:srgbClr val="E07000"/>
              </a:gs>
              <a:gs pos="100000">
                <a:srgbClr val="D4B200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09728"/>
          <a:lstStyle/>
          <a:p>
            <a:pPr algn="ctr"/>
            <a:r>
              <a:rPr b="1" sz="2200">
                <a:solidFill>
                  <a:srgbClr val="FFFFFF"/>
                </a:solidFill>
                <a:latin typeface="맑은 고딕"/>
              </a:rPr>
              <a:t>6. 기대 효과 및 활용 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64008"/>
            <a:ext cx="411480" cy="59436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b="1" sz="200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492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8B3A00"/>
                </a:solidFill>
                <a:latin typeface="Calibri"/>
              </a:rPr>
              <a:t>Dongguk Univ.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8503920" cy="569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학술적 기여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UVA 모델 위에 언어 CoT 오케스트레이션만 바꿔도 장기 과제와 예측 일관성이 달라질 수 있음을 실증하고, 베이스라인 축을 명확히 제시한다.</a:t>
            </a:r>
          </a:p>
          <a:p>
            <a:pPr>
              <a:spcBef>
                <a:spcPts val="8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실용적 활용 방안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가정·물류 등 지시 기반 조작에서 사람이 읽을 수 있는 계획 단계와 검증 가능한 동역학 예측을 함께 제공하는 의사결정 스택으로 확장 가능하다.</a:t>
            </a:r>
          </a:p>
          <a:p>
            <a:pPr>
              <a:spcBef>
                <a:spcPts val="800"/>
              </a:spcBef>
            </a:pPr>
            <a:r>
              <a:rPr b="1" sz="1350">
                <a:solidFill>
                  <a:srgbClr val="7B3200"/>
                </a:solidFill>
                <a:latin typeface="맑은 고딕"/>
              </a:rPr>
              <a:t>•  후속 연구 방향</a:t>
            </a:r>
          </a:p>
          <a:p>
            <a:pPr marL="347472">
              <a:spcBef>
                <a:spcPts val="200"/>
              </a:spcBef>
            </a:pPr>
            <a:r>
              <a:rPr sz="1200">
                <a:solidFill>
                  <a:srgbClr val="1A1A1A"/>
                </a:solidFill>
                <a:latin typeface="맑은 고딕"/>
              </a:rPr>
              <a:t>–  실제 로봇·멀티모달 관측 확장, CoT 단계와 UVA 내부 표현의 정렬, 제한적 LLM 적응과의 비교.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